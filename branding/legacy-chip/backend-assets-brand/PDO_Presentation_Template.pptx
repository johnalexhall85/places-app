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658FA-C1AB-4434-8490-FA8472C0ECDD}" v="4" dt="2026-04-04T16:08:03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all" userId="1847686146a4209a" providerId="LiveId" clId="{CED618C6-2F5E-46C4-B202-82B630BAFCFA}"/>
    <pc:docChg chg="modSld">
      <pc:chgData name="John Hall" userId="1847686146a4209a" providerId="LiveId" clId="{CED618C6-2F5E-46C4-B202-82B630BAFCFA}" dt="2026-04-04T16:08:03.237" v="3" actId="14826"/>
      <pc:docMkLst>
        <pc:docMk/>
      </pc:docMkLst>
      <pc:sldChg chg="modSp">
        <pc:chgData name="John Hall" userId="1847686146a4209a" providerId="LiveId" clId="{CED618C6-2F5E-46C4-B202-82B630BAFCFA}" dt="2026-04-04T16:07:02.633" v="0" actId="14826"/>
        <pc:sldMkLst>
          <pc:docMk/>
          <pc:sldMk cId="0" sldId="256"/>
        </pc:sldMkLst>
        <pc:picChg chg="mod">
          <ac:chgData name="John Hall" userId="1847686146a4209a" providerId="LiveId" clId="{CED618C6-2F5E-46C4-B202-82B630BAFCFA}" dt="2026-04-04T16:07:02.633" v="0" actId="14826"/>
          <ac:picMkLst>
            <pc:docMk/>
            <pc:sldMk cId="0" sldId="256"/>
            <ac:picMk id="4" creationId="{00000000-0000-0000-0000-000000000000}"/>
          </ac:picMkLst>
        </pc:picChg>
      </pc:sldChg>
      <pc:sldChg chg="modSp">
        <pc:chgData name="John Hall" userId="1847686146a4209a" providerId="LiveId" clId="{CED618C6-2F5E-46C4-B202-82B630BAFCFA}" dt="2026-04-04T16:07:26.125" v="1" actId="14826"/>
        <pc:sldMkLst>
          <pc:docMk/>
          <pc:sldMk cId="0" sldId="258"/>
        </pc:sldMkLst>
        <pc:picChg chg="mod">
          <ac:chgData name="John Hall" userId="1847686146a4209a" providerId="LiveId" clId="{CED618C6-2F5E-46C4-B202-82B630BAFCFA}" dt="2026-04-04T16:07:26.125" v="1" actId="14826"/>
          <ac:picMkLst>
            <pc:docMk/>
            <pc:sldMk cId="0" sldId="258"/>
            <ac:picMk id="3" creationId="{00000000-0000-0000-0000-000000000000}"/>
          </ac:picMkLst>
        </pc:picChg>
      </pc:sldChg>
      <pc:sldChg chg="modSp">
        <pc:chgData name="John Hall" userId="1847686146a4209a" providerId="LiveId" clId="{CED618C6-2F5E-46C4-B202-82B630BAFCFA}" dt="2026-04-04T16:07:45.777" v="2" actId="14826"/>
        <pc:sldMkLst>
          <pc:docMk/>
          <pc:sldMk cId="0" sldId="260"/>
        </pc:sldMkLst>
        <pc:picChg chg="mod">
          <ac:chgData name="John Hall" userId="1847686146a4209a" providerId="LiveId" clId="{CED618C6-2F5E-46C4-B202-82B630BAFCFA}" dt="2026-04-04T16:07:45.777" v="2" actId="14826"/>
          <ac:picMkLst>
            <pc:docMk/>
            <pc:sldMk cId="0" sldId="260"/>
            <ac:picMk id="4" creationId="{00000000-0000-0000-0000-000000000000}"/>
          </ac:picMkLst>
        </pc:picChg>
      </pc:sldChg>
      <pc:sldChg chg="modSp">
        <pc:chgData name="John Hall" userId="1847686146a4209a" providerId="LiveId" clId="{CED618C6-2F5E-46C4-B202-82B630BAFCFA}" dt="2026-04-04T16:08:03.237" v="3" actId="14826"/>
        <pc:sldMkLst>
          <pc:docMk/>
          <pc:sldMk cId="0" sldId="262"/>
        </pc:sldMkLst>
        <pc:picChg chg="mod">
          <ac:chgData name="John Hall" userId="1847686146a4209a" providerId="LiveId" clId="{CED618C6-2F5E-46C4-B202-82B630BAFCFA}" dt="2026-04-04T16:08:03.237" v="3" actId="14826"/>
          <ac:picMkLst>
            <pc:docMk/>
            <pc:sldMk cId="0" sldId="26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20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3657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400" dirty="0">
                <a:solidFill>
                  <a:srgbClr val="CFD8DC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PUBLIC DATA OBSERVATORY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project description goes here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246120"/>
            <a:ext cx="2011680" cy="50292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4564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YYYY  |  Your Name  |  Organization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477316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Federal Staffing · Budgets · Grants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77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7315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14F7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500" dirty="0">
                <a:solidFill>
                  <a:srgbClr val="BD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Title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D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description of what this section covers and why it matters.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F61"/>
          </a:solidFill>
          <a:ln w="12700">
            <a:solidFill>
              <a:srgbClr val="003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OBSERVATORY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F61"/>
          </a:solidFill>
          <a:ln w="12700">
            <a:solidFill>
              <a:srgbClr val="003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2801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Slide Title Here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 or Subheading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5087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goes here. Explain the context, methodology, or finding in clear, concise language suitable for policymakers and advocates.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can provide additional detail, nuance, or sourcing. Keep language precise and evidence-based.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429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3493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8404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Insight one: short and specific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Insight two: quantified where possible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Insight three: source-linked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005840"/>
            <a:ext cx="3931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1005840"/>
            <a:ext cx="109728" cy="1207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$11.4B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029200" y="1664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supplemental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terminated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377440"/>
            <a:ext cx="3931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2377440"/>
            <a:ext cx="109728" cy="1207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51%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029200" y="3035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CDC funding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at risk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00600" y="3749040"/>
            <a:ext cx="3931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00600" y="3749040"/>
            <a:ext cx="109728" cy="1207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5029200" y="4407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domestic CDC budget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to states &amp; communities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4F7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29200" y="49011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Observatory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F61"/>
          </a:solidFill>
          <a:ln w="12700">
            <a:solidFill>
              <a:srgbClr val="003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9144000" cy="50292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Visualization Title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4023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HHS / CDC Data  |  FY2024–2026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Chart or Data Visualization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Bar chart · Line graph · State-level map · Treemap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All figures drawn from publicly available HHS appropriations data. Figures reflect enacted appropriations unless otherwise noted.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4F7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0" y="49011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Observatory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3F61"/>
          </a:solidFill>
          <a:ln w="12700">
            <a:solidFill>
              <a:srgbClr val="003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347472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Context &amp;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47472" y="2697480"/>
            <a:ext cx="1280160" cy="54864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28803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 or background information here. This panel works well for mission framing, problem statements, or policy background.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60520" y="3474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160520" y="868680"/>
            <a:ext cx="466344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60520" y="1024128"/>
            <a:ext cx="548640" cy="54864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60520" y="10698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00600" y="10424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Point One Heading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13898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first key point or finding. Keep to 2 sentences.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60520" y="2286000"/>
            <a:ext cx="548640" cy="54864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6052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0060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Point Two Heading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second key point or finding. Reference data where possible.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60520" y="3547872"/>
            <a:ext cx="548640" cy="54864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60520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00600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F6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Point Three Heading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39136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the third key point or finding. Link to action or implication.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4F7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004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9200" y="49011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Observatory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0" b="1" dirty="0">
                <a:solidFill>
                  <a:srgbClr val="014F7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CDC directs 80% of its domestic budget to states, tribes, and communities — and nearly half of most state public health budgets come from CDC.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645920" cy="54864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CDC Budget &amp; Finance · FY2024 Appropriations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03F61"/>
          </a:solidFill>
          <a:ln w="6350">
            <a:solidFill>
              <a:srgbClr val="003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90118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Observatory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D75C9"/>
          </a:solidFill>
          <a:ln w="12700">
            <a:solidFill>
              <a:srgbClr val="3D75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11880" y="54864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PUBLIC DATA OBSERVATORY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474720" y="3127248"/>
            <a:ext cx="2194560" cy="50292"/>
          </a:xfrm>
          <a:prstGeom prst="rect">
            <a:avLst/>
          </a:prstGeom>
          <a:solidFill>
            <a:srgbClr val="F0B97D"/>
          </a:solidFill>
          <a:ln w="12700">
            <a:solidFill>
              <a:srgbClr val="F0B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Federal Staffing · Budgets · Grants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730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publicdataobservatory.org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Data Observatory — Branded Template</dc:title>
  <dc:subject>PptxGenJS Presentation</dc:subject>
  <dc:creator>Public Data Observatory</dc:creator>
  <cp:lastModifiedBy>John Hall</cp:lastModifiedBy>
  <cp:revision>1</cp:revision>
  <dcterms:created xsi:type="dcterms:W3CDTF">2026-04-04T15:18:56Z</dcterms:created>
  <dcterms:modified xsi:type="dcterms:W3CDTF">2026-04-04T16:08:09Z</dcterms:modified>
</cp:coreProperties>
</file>